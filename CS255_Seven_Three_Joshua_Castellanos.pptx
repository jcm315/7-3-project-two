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93255" autoAdjust="0"/>
  </p:normalViewPr>
  <p:slideViewPr>
    <p:cSldViewPr snapToGrid="0">
      <p:cViewPr varScale="1">
        <p:scale>
          <a:sx n="148" d="100"/>
          <a:sy n="148" d="100"/>
        </p:scale>
        <p:origin x="195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requirements describe what the system must do and how it must perform. Students need access to practice tests, scheduling tools, and learning materials. The nonfunctional requirements ensure the system is dependable, secure, and always available when users need it.</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students, instructors, administrators, and drivers interact with the system. It highlights the core features such as scheduling, testing, updating progress, and managing packages. This helps </a:t>
            </a:r>
            <a:r>
              <a:rPr lang="en-US" dirty="0" err="1"/>
              <a:t>DriverPass</a:t>
            </a:r>
            <a:r>
              <a:rPr lang="en-US" dirty="0"/>
              <a:t> visualize how each part of the system supports their business goals.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activity diagram shows the steps a user takes to log in or schedule a driving appointment. It demonstrates how the system guides the user through each step, ensuring clarity, security, and ease of use.</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into every part of the system. Students’ personal information, test results, and payment details are protected through encryption and secure authentication. Role‑based access ensures instructors and admins only access the information they need.</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limitations are normal for online systems. </a:t>
            </a:r>
            <a:r>
              <a:rPr lang="en-US" dirty="0" err="1"/>
              <a:t>DriverPass</a:t>
            </a:r>
            <a:r>
              <a:rPr lang="en-US" dirty="0"/>
              <a:t> users must be connected to the internet, and instructors must keep their schedules updated. The system relies on cloud services, but these are highly reliable. Accurate data entry ensures the system works smoothly.</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10/14/2026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10/14/2026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fontScale="85000" lnSpcReduction="20000"/>
          </a:bodyPr>
          <a:lstStyle/>
          <a:p>
            <a:r>
              <a:rPr lang="en-US" dirty="0">
                <a:solidFill>
                  <a:srgbClr val="FFFFFF"/>
                </a:solidFill>
              </a:rPr>
              <a:t>Joshua Castellanos </a:t>
            </a:r>
          </a:p>
          <a:p>
            <a:r>
              <a:rPr lang="en-US" dirty="0">
                <a:solidFill>
                  <a:srgbClr val="FFFFFF"/>
                </a:solidFill>
              </a:rPr>
              <a:t>October 18, 2026</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82111" y="825501"/>
            <a:ext cx="5212661" cy="2760098"/>
          </a:xfrm>
        </p:spPr>
        <p:txBody>
          <a:bodyPr anchor="ctr">
            <a:normAutofit/>
          </a:bodyPr>
          <a:lstStyle/>
          <a:p>
            <a:pPr lvl="0"/>
            <a:r>
              <a:rPr lang="en-US" sz="3200" dirty="0"/>
              <a:t>Students can take practice tests and view results.</a:t>
            </a:r>
          </a:p>
          <a:p>
            <a:pPr lvl="0"/>
            <a:r>
              <a:rPr lang="en-US" sz="3200" dirty="0"/>
              <a:t>Students can schedule driving lessons and purchase packages.</a:t>
            </a:r>
          </a:p>
        </p:txBody>
      </p:sp>
      <p:sp>
        <p:nvSpPr>
          <p:cNvPr id="4" name="Title 1">
            <a:extLst>
              <a:ext uri="{FF2B5EF4-FFF2-40B4-BE49-F238E27FC236}">
                <a16:creationId xmlns:a16="http://schemas.microsoft.com/office/drawing/2014/main" id="{308E8226-583F-1620-0E3D-C38372B650FF}"/>
              </a:ext>
            </a:extLst>
          </p:cNvPr>
          <p:cNvSpPr txBox="1">
            <a:spLocks/>
          </p:cNvSpPr>
          <p:nvPr/>
        </p:nvSpPr>
        <p:spPr>
          <a:xfrm>
            <a:off x="6096000" y="264017"/>
            <a:ext cx="5063544" cy="561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mn-lt"/>
              </a:rPr>
              <a:t>Functional Requirements</a:t>
            </a:r>
          </a:p>
        </p:txBody>
      </p:sp>
      <p:sp>
        <p:nvSpPr>
          <p:cNvPr id="6" name="Title 1">
            <a:extLst>
              <a:ext uri="{FF2B5EF4-FFF2-40B4-BE49-F238E27FC236}">
                <a16:creationId xmlns:a16="http://schemas.microsoft.com/office/drawing/2014/main" id="{B65CD3A5-2798-F73B-2F26-54A6AB8DB2D5}"/>
              </a:ext>
            </a:extLst>
          </p:cNvPr>
          <p:cNvSpPr txBox="1">
            <a:spLocks/>
          </p:cNvSpPr>
          <p:nvPr/>
        </p:nvSpPr>
        <p:spPr>
          <a:xfrm>
            <a:off x="6082111" y="3429000"/>
            <a:ext cx="5847008" cy="7180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mn-lt"/>
              </a:rPr>
              <a:t>Nonfunctional Requirements</a:t>
            </a:r>
          </a:p>
        </p:txBody>
      </p:sp>
      <p:sp>
        <p:nvSpPr>
          <p:cNvPr id="7" name="Content Placeholder 2">
            <a:extLst>
              <a:ext uri="{FF2B5EF4-FFF2-40B4-BE49-F238E27FC236}">
                <a16:creationId xmlns:a16="http://schemas.microsoft.com/office/drawing/2014/main" id="{EFAA5ED2-0849-ABFC-26C9-37C827016E04}"/>
              </a:ext>
            </a:extLst>
          </p:cNvPr>
          <p:cNvSpPr txBox="1">
            <a:spLocks/>
          </p:cNvSpPr>
          <p:nvPr/>
        </p:nvSpPr>
        <p:spPr>
          <a:xfrm>
            <a:off x="6096000" y="4205624"/>
            <a:ext cx="5212661" cy="2760098"/>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The system must be secure and protect user data.</a:t>
            </a:r>
          </a:p>
          <a:p>
            <a:r>
              <a:rPr lang="en-US" sz="3200" dirty="0"/>
              <a:t>The system must be available 24/7 with reliable performance.</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7" name="Content Placeholder 6">
            <a:extLst>
              <a:ext uri="{FF2B5EF4-FFF2-40B4-BE49-F238E27FC236}">
                <a16:creationId xmlns:a16="http://schemas.microsoft.com/office/drawing/2014/main" id="{DA3E4521-070A-9A59-9E29-C46081F086B1}"/>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4874075" y="766294"/>
            <a:ext cx="7317924" cy="5434884"/>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2A4D9676-1252-2EAF-87DB-04546C10B7B3}"/>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292865" y="1194074"/>
            <a:ext cx="6636053" cy="3619665"/>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Encrypted communication protects user data.</a:t>
            </a:r>
          </a:p>
          <a:p>
            <a:r>
              <a:rPr lang="en-US" sz="2400" dirty="0">
                <a:solidFill>
                  <a:srgbClr val="000000"/>
                </a:solidFill>
              </a:rPr>
              <a:t>Secure login prevents unauthorized access.</a:t>
            </a:r>
          </a:p>
          <a:p>
            <a:r>
              <a:rPr lang="en-US" sz="2400" dirty="0">
                <a:solidFill>
                  <a:srgbClr val="000000"/>
                </a:solidFill>
              </a:rPr>
              <a:t>Role‑based access ensures users only see what they should.</a:t>
            </a:r>
          </a:p>
          <a:p>
            <a:r>
              <a:rPr lang="en-US" sz="2400" dirty="0">
                <a:solidFill>
                  <a:srgbClr val="000000"/>
                </a:solidFill>
              </a:rPr>
              <a:t>Backup and recovery systems protect against data loss.</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Requires internet access for all features.</a:t>
            </a:r>
          </a:p>
          <a:p>
            <a:r>
              <a:rPr lang="en-US" sz="2400" dirty="0">
                <a:solidFill>
                  <a:srgbClr val="000000"/>
                </a:solidFill>
              </a:rPr>
              <a:t>Instructor availability must be updated manually.</a:t>
            </a:r>
          </a:p>
          <a:p>
            <a:r>
              <a:rPr lang="en-US" sz="2400" dirty="0">
                <a:solidFill>
                  <a:srgbClr val="000000"/>
                </a:solidFill>
              </a:rPr>
              <a:t>System performance depends on cloud service uptime.</a:t>
            </a:r>
          </a:p>
          <a:p>
            <a:r>
              <a:rPr lang="en-US" sz="2400" dirty="0">
                <a:solidFill>
                  <a:srgbClr val="000000"/>
                </a:solidFill>
              </a:rPr>
              <a:t>Users must enter accurate information for best results.</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1370</TotalTime>
  <Words>370</Words>
  <Application>Microsoft Office PowerPoint</Application>
  <PresentationFormat>Widescreen</PresentationFormat>
  <Paragraphs>34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Castellanos, Joshua</cp:lastModifiedBy>
  <cp:revision>21</cp:revision>
  <dcterms:created xsi:type="dcterms:W3CDTF">2019-10-14T02:36:52Z</dcterms:created>
  <dcterms:modified xsi:type="dcterms:W3CDTF">2026-10-15T03:37:38Z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